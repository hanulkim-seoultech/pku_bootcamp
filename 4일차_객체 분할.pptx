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4" r:id="rId38"/>
    <p:sldId id="295" r:id="rId39"/>
    <p:sldId id="296" r:id="rId40"/>
    <p:sldId id="297" r:id="rId41"/>
    <p:sldId id="298" r:id="rId42"/>
    <p:sldId id="299" r:id="rId43"/>
    <p:sldId id="303" r:id="rId44"/>
    <p:sldId id="304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6F6"/>
    <a:srgbClr val="0000FF"/>
    <a:srgbClr val="BDD8EF"/>
    <a:srgbClr val="D7DCE5"/>
    <a:srgbClr val="F5F5F5"/>
    <a:srgbClr val="6C6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62"/>
    <p:restoredTop sz="94678"/>
  </p:normalViewPr>
  <p:slideViewPr>
    <p:cSldViewPr snapToGrid="0" snapToObjects="1">
      <p:cViewPr varScale="1">
        <p:scale>
          <a:sx n="106" d="100"/>
          <a:sy n="106" d="100"/>
        </p:scale>
        <p:origin x="192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768F8-5906-B847-9560-4E469FAED235}" type="datetimeFigureOut">
              <a:rPr kumimoji="1" lang="ko-KR" altLang="en-US" smtClean="0"/>
              <a:t>2026. 7. 29.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841D3-F716-CC47-8008-A5A33C64BC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794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4FB02-3BE4-2611-E237-B56FE821E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221" y="1122363"/>
            <a:ext cx="11281558" cy="2850548"/>
          </a:xfrm>
        </p:spPr>
        <p:txBody>
          <a:bodyPr anchor="b"/>
          <a:lstStyle>
            <a:lvl1pPr algn="l">
              <a:defRPr sz="6600" b="1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1E362-1A30-1798-47C5-8151DB07A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220" y="4060213"/>
            <a:ext cx="11281558" cy="464284"/>
          </a:xfrm>
        </p:spPr>
        <p:txBody>
          <a:bodyPr anchor="ctr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86568-63D9-AC1E-485B-C6ABA922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5221" y="6356350"/>
            <a:ext cx="3126179" cy="365125"/>
          </a:xfrm>
          <a:prstGeom prst="rect">
            <a:avLst/>
          </a:prstGeom>
        </p:spPr>
        <p:txBody>
          <a:bodyPr/>
          <a:lstStyle/>
          <a:p>
            <a:fld id="{400C4B94-1F45-9340-A913-DD3AE1D451B1}" type="datetimeFigureOut">
              <a:rPr kumimoji="1" lang="ko-KR" altLang="en-US" smtClean="0"/>
              <a:t>2026. 7. 29.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1C770-2F0B-C392-DE2E-C70AC405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240D6D-0289-FD52-CC3D-72DF59E0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26179" cy="365125"/>
          </a:xfrm>
          <a:prstGeom prst="rect">
            <a:avLst/>
          </a:prstGeom>
        </p:spPr>
        <p:txBody>
          <a:bodyPr/>
          <a:lstStyle/>
          <a:p>
            <a:fld id="{7BA1CB0F-F507-494F-AEC3-BE69318A6C52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9126F657-5144-A612-8443-47B006070AF3}"/>
              </a:ext>
            </a:extLst>
          </p:cNvPr>
          <p:cNvCxnSpPr/>
          <p:nvPr userDrawn="1"/>
        </p:nvCxnSpPr>
        <p:spPr>
          <a:xfrm>
            <a:off x="566928" y="4623659"/>
            <a:ext cx="292608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CE460-F1D6-8229-5D00-8B8789C4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31" y="267265"/>
            <a:ext cx="11281558" cy="694042"/>
          </a:xfrm>
        </p:spPr>
        <p:txBody>
          <a:bodyPr/>
          <a:lstStyle>
            <a:lvl1pPr>
              <a:defRPr sz="2800" b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ACF59-A36B-C0AA-051B-F1275CD59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31" y="1687808"/>
            <a:ext cx="11281558" cy="4460339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defRPr sz="23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시스템 서체 일반체"/>
              <a:buChar char="-"/>
              <a:defRPr sz="22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시스템 서체 일반체"/>
              <a:buChar char="-"/>
              <a:defRPr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시스템 서체 일반체"/>
              <a:buChar char="-"/>
              <a:defRPr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시스템 서체 일반체"/>
              <a:buChar char="-"/>
              <a:defRPr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4ABBF-3315-A05C-76B6-2F32C80C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21" y="6356350"/>
            <a:ext cx="11281558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BB6075F-D1AF-D667-E8D5-EC27818DF7E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4831" y="1169510"/>
            <a:ext cx="11281558" cy="518298"/>
          </a:xfrm>
        </p:spPr>
        <p:txBody>
          <a:bodyPr/>
          <a:lstStyle>
            <a:lvl1pPr>
              <a:buNone/>
              <a:defRPr sz="2300" b="1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10979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D92E7CC-38FE-744C-DA9F-A8A4FE48F992}"/>
              </a:ext>
            </a:extLst>
          </p:cNvPr>
          <p:cNvSpPr/>
          <p:nvPr userDrawn="1"/>
        </p:nvSpPr>
        <p:spPr>
          <a:xfrm>
            <a:off x="0" y="0"/>
            <a:ext cx="4667003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ACF59-A36B-C0AA-051B-F1275CD59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68" y="538966"/>
            <a:ext cx="6977148" cy="5780067"/>
          </a:xfrm>
        </p:spPr>
        <p:txBody>
          <a:bodyPr anchor="ctr" anchorCtr="0">
            <a:noAutofit/>
          </a:bodyPr>
          <a:lstStyle>
            <a:lvl1pPr indent="-352800">
              <a:lnSpc>
                <a:spcPct val="114000"/>
              </a:lnSpc>
              <a:spcAft>
                <a:spcPts val="200"/>
              </a:spcAft>
              <a:buFont typeface="+mj-lt"/>
              <a:buAutoNum type="arabicPeriod"/>
              <a:defRPr sz="2400"/>
            </a:lvl1pPr>
            <a:lvl2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 sz="2200"/>
            </a:lvl2pPr>
            <a:lvl3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3pPr>
            <a:lvl4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4pPr>
            <a:lvl5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4903306-7681-45AD-3DE5-43D5273714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5364" y="540533"/>
            <a:ext cx="4271376" cy="5778500"/>
          </a:xfrm>
        </p:spPr>
        <p:txBody>
          <a:bodyPr anchor="ctr" anchorCtr="0">
            <a:noAutofit/>
          </a:bodyPr>
          <a:lstStyle>
            <a:lvl1pPr>
              <a:lnSpc>
                <a:spcPct val="114000"/>
              </a:lnSpc>
              <a:spcAft>
                <a:spcPts val="200"/>
              </a:spcAft>
              <a:defRPr sz="2400"/>
            </a:lvl1pPr>
            <a:lvl2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2pPr>
            <a:lvl3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3pPr>
            <a:lvl4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4pPr>
            <a:lvl5pPr>
              <a:lnSpc>
                <a:spcPct val="114000"/>
              </a:lnSpc>
              <a:spcAft>
                <a:spcPts val="200"/>
              </a:spcAft>
              <a:buFont typeface="시스템 서체 일반체"/>
              <a:buChar char="-"/>
              <a:defRPr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6757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D30580-72FB-3994-270C-58128E32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21" y="365125"/>
            <a:ext cx="11281558" cy="132556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63172F-40ED-B66A-15BC-5DF40E545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221" y="1825625"/>
            <a:ext cx="11281558" cy="4351338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083E3-6EC5-8B8E-BA3A-78B2F6CBF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5221" y="6356350"/>
            <a:ext cx="3126179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400C4B94-1F45-9340-A913-DD3AE1D451B1}" type="datetimeFigureOut">
              <a:rPr kumimoji="1" lang="ko-KR" altLang="en-US" smtClean="0"/>
              <a:pPr/>
              <a:t>2026. 7. 29.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36E15F-0200-6F0C-6341-D6B9F5161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4A8F7-B893-D0A6-5583-22BED8A21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126179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7BA1CB0F-F507-494F-AEC3-BE69318A6C52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354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4" r:id="rId3"/>
    <p:sldLayoutId id="214748367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125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800" indent="-228600" algn="l" defTabSz="914400" rtl="0" eaLnBrk="1" latinLnBrk="1" hangingPunct="1">
        <a:lnSpc>
          <a:spcPct val="125000"/>
        </a:lnSpc>
        <a:spcBef>
          <a:spcPts val="0"/>
        </a:spcBef>
        <a:spcAft>
          <a:spcPts val="400"/>
        </a:spcAft>
        <a:buFont typeface="시스템 서체 일반체"/>
        <a:buChar char="-"/>
        <a:defRPr sz="24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3000" indent="-228600" algn="l" defTabSz="914400" rtl="0" eaLnBrk="1" latinLnBrk="1" hangingPunct="1">
        <a:lnSpc>
          <a:spcPct val="125000"/>
        </a:lnSpc>
        <a:spcBef>
          <a:spcPts val="0"/>
        </a:spcBef>
        <a:spcAft>
          <a:spcPts val="400"/>
        </a:spcAft>
        <a:buFont typeface="시스템 서체 일반체"/>
        <a:buChar char="-"/>
        <a:defRPr sz="20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200" indent="-228600" algn="l" defTabSz="914400" rtl="0" eaLnBrk="1" latinLnBrk="1" hangingPunct="1">
        <a:lnSpc>
          <a:spcPct val="125000"/>
        </a:lnSpc>
        <a:spcBef>
          <a:spcPts val="0"/>
        </a:spcBef>
        <a:spcAft>
          <a:spcPts val="400"/>
        </a:spcAft>
        <a:buFont typeface="시스템 서체 일반체"/>
        <a:buChar char="-"/>
        <a:defRPr sz="18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400" indent="-228600" algn="l" defTabSz="914400" rtl="0" eaLnBrk="1" latinLnBrk="1" hangingPunct="1">
        <a:lnSpc>
          <a:spcPct val="125000"/>
        </a:lnSpc>
        <a:spcBef>
          <a:spcPts val="0"/>
        </a:spcBef>
        <a:spcAft>
          <a:spcPts val="400"/>
        </a:spcAft>
        <a:buFont typeface="시스템 서체 일반체"/>
        <a:buChar char="-"/>
        <a:defRPr sz="1800" kern="1200">
          <a:solidFill>
            <a:schemeClr val="tx1"/>
          </a:solidFill>
          <a:effectLst/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컴퓨터</a:t>
            </a:r>
            <a:r>
              <a:rPr lang="ko-KR" altLang="en-US" sz="4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비전</a:t>
            </a:r>
            <a:r>
              <a:rPr sz="4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부트캠프</a:t>
            </a:r>
            <a:endParaRPr sz="4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4일차 · </a:t>
            </a:r>
            <a:r>
              <a:rPr sz="22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객체</a:t>
            </a:r>
            <a:r>
              <a:rPr sz="22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2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2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, ONNX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12064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7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김한울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서울과학기술대학교 인공지능응용학과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hukim@seoultech.ac.kr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1447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부경대학교 교내 컴퓨터비전 부트캠프  ·  2026. 8. 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49240" y="1554480"/>
            <a:ext cx="6309360" cy="393192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1차시   </a:t>
            </a:r>
            <a:r>
              <a:rPr sz="20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객체 분할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600" b="0">
                <a:solidFill>
                  <a:srgbClr val="B0B8BC"/>
                </a:solidFill>
                <a:latin typeface="Pretendard"/>
                <a:ea typeface="Pretendard"/>
                <a:cs typeface="Pretendard"/>
              </a:rPr>
              <a:t>　　　9:30 – 10:20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2차시   </a:t>
            </a:r>
            <a:r>
              <a:rPr sz="20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SAM · 이론과 실습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600" b="0">
                <a:solidFill>
                  <a:srgbClr val="B0B8BC"/>
                </a:solidFill>
                <a:latin typeface="Pretendard"/>
                <a:ea typeface="Pretendard"/>
                <a:cs typeface="Pretendard"/>
              </a:rPr>
              <a:t>　　　10:30 – 11:20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3차시   </a:t>
            </a:r>
            <a:r>
              <a:rPr sz="20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ONNX Runtime · 이론과 실습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600" b="0">
                <a:solidFill>
                  <a:srgbClr val="B0B8BC"/>
                </a:solidFill>
                <a:latin typeface="Pretendard"/>
                <a:ea typeface="Pretendard"/>
                <a:cs typeface="Pretendard"/>
              </a:rPr>
              <a:t>　　　11:30 – 12:20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4차시   </a:t>
            </a:r>
            <a:r>
              <a:rPr sz="20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[프로젝트] 최종 프로젝트 주제 안내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600" b="0">
                <a:solidFill>
                  <a:srgbClr val="B0B8BC"/>
                </a:solidFill>
                <a:latin typeface="Pretendard"/>
                <a:ea typeface="Pretendard"/>
                <a:cs typeface="Pretendard"/>
              </a:rPr>
              <a:t>　　　12:30 – 13:20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28" y="2377440"/>
            <a:ext cx="3749039" cy="219456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7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컴퓨터</a:t>
            </a:r>
            <a:r>
              <a:rPr lang="ko-KR" altLang="en-US" sz="27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비전</a:t>
            </a:r>
            <a:r>
              <a:rPr sz="27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부트캠프</a:t>
            </a:r>
            <a:endParaRPr sz="27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21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4일차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700" b="0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객체</a:t>
            </a:r>
            <a:r>
              <a:rPr sz="1700" b="0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1700" b="0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, ONNX 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24897"/>
              </p:ext>
            </p:extLst>
          </p:nvPr>
        </p:nvGraphicFramePr>
        <p:xfrm>
          <a:off x="454831" y="2352040"/>
          <a:ext cx="11283695" cy="215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모델의 답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자료 구조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· 2일차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 사진은 무엇인가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 하나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정수 1개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3일차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무엇이 어디에 있는가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박스 + 클래스 + 점수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(N, 4) 배열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4일차 오늘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물체의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정확한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모양은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픽셀 단위 마스크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(N, H, W) 배열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오늘 3차시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 모델을 어떻게 배포하는가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.onnx 파일 하나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런타임이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그래프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420C01C8-D941-8F2E-8302-7B06C61B16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1D5379EF-6A15-D5E8-AD4B-048C9146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부트캠프 로드맵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49240" y="1783080"/>
            <a:ext cx="6309360" cy="347472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이 차시에서 다루는 것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박스로는 부족한 순간 — 왜 마스크인가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semantic · instance 분할의 차이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마스크는 데이터 구조로 무엇인가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mask IoU — 분할을 평가하는 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28" y="2514600"/>
            <a:ext cx="3749039" cy="201168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1차시</a:t>
            </a:r>
          </a:p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>
                <a:solidFill>
                  <a:srgbClr val="CBE2EC"/>
                </a:solidFill>
                <a:latin typeface="Pretendard"/>
                <a:ea typeface="Pretendard"/>
                <a:cs typeface="Pretendard"/>
              </a:rPr>
              <a:t>객체 분할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A8CCDC"/>
                </a:solidFill>
                <a:latin typeface="Pretendard"/>
                <a:ea typeface="Pretendard"/>
                <a:cs typeface="Pretendard"/>
              </a:rPr>
              <a:t>9:30 – 10:20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박스로는 부족한 순간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박스는 '어디쯤' 은 알려 주지만 '정확히 어디까지' 는 말하지 못한다</a:t>
            </a:r>
          </a:p>
        </p:txBody>
      </p:sp>
      <p:pic>
        <p:nvPicPr>
          <p:cNvPr id="5" name="Picture 4" descr="d4_0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0" y="1755648"/>
            <a:ext cx="8875074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65776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5221224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박스 안의 배경이 문제가 되는 경우들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사람만 오려 내 합성하려면, 병변의 면적을 재려면, 로봇이 물체를 집을 지점을 찾으려면 — 박스 안의 어디까지가 물체인지를 알아야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분할에도 종류가 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클래스의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서로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다른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객체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구분하는지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여부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5" name="Picture 4" descr="d4_0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092" y="1755648"/>
            <a:ext cx="8403510" cy="3108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065776"/>
          <a:ext cx="11283696" cy="1292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구분하는 것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오늘 우리가 만드는 것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semantic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클래스만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(H, W) 클래스 번호 지도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instance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 + 객체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객체마다 (H, W) 마스크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SAM 의 출력이 여기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마스크는 결국 배열이다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그림처럼 보이지만 코드에서는 참·거짓이 담긴 표에 지나지 않는다</a:t>
            </a:r>
          </a:p>
        </p:txBody>
      </p:sp>
      <p:pic>
        <p:nvPicPr>
          <p:cNvPr id="5" name="Picture 4" descr="d4_0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3500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57083"/>
            <a:ext cx="11283696" cy="27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면적을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재는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것도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두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마스크를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비교하는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것도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배열에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대한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연산일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뿐이다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분할을 평가하는 법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탐지에서 쓰던 IoU 를 픽셀에 그대로 적용한다</a:t>
            </a:r>
          </a:p>
        </p:txBody>
      </p:sp>
      <p:pic>
        <p:nvPicPr>
          <p:cNvPr id="5" name="Picture 4" descr="d4_0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17" y="1755648"/>
            <a:ext cx="1042266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65776"/>
            <a:ext cx="11283696" cy="138252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5221224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박스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IoU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정의가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같다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3일차에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배운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IoU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대상만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면적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픽셀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개수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바뀐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것입니다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따라서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mAP50 · mAP50-95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지표도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계산할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분할 모델의 두 갈래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 쓸 SAM 은 오른쪽 갈래다 — 성격이 꽤 다르다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6" cy="2584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5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학습형 분할 모델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promptable 분할 모델 (SAM)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방식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정해진 클래스 목록으로 학습한다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'물체다움' 만 학습한다 — 클래스 개념이 없다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이미지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이미지 + prompt (점 · 박스)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학습한 클래스의 마스크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 가 가리키는 것의 마스크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 이름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함께 나온다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나오지 않는다 — 따로 붙여야 한다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물체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다시 학습해야 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그냥 찍으면 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41518"/>
            <a:ext cx="11283696" cy="1431769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696967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그래서 YOLO 와 SAM 을 붙인다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 는 이름은 알지만 모양을 모르고, SAM 은 모양은 알지만 이름을 모릅니다. 2차시 마지막에 이 조합을 직접 만들어 봅니다 — 최종 프로젝트 주제 1번이기도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49240" y="1783080"/>
            <a:ext cx="6309360" cy="347472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이 차시에서 다루는 것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promptable segmentation 이라는 발상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의 구조 — 왜 실시간으로 반응하는가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점 · 박스 · negative point 로 마스크 만들기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 탐지 결과를 SAM 에 넘기기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28" y="2514600"/>
            <a:ext cx="3749039" cy="201168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2차시</a:t>
            </a:r>
          </a:p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>
                <a:solidFill>
                  <a:srgbClr val="CBE2EC"/>
                </a:solidFill>
                <a:latin typeface="Pretendard"/>
                <a:ea typeface="Pretendard"/>
                <a:cs typeface="Pretendard"/>
              </a:rPr>
              <a:t>SAM · 이론과 실습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A8CCDC"/>
                </a:solidFill>
                <a:latin typeface="Pretendard"/>
                <a:ea typeface="Pretendard"/>
                <a:cs typeface="Pretendard"/>
              </a:rPr>
              <a:t>10:30 – 11:20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— Segment Anything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무엇을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찾을지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학습하지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, '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가리킨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것을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분할하는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능력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을 학습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5" name="Picture 4" descr="d4_1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33131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의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155431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946" y="5453185"/>
            <a:ext cx="10625328" cy="6297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인코딩은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번만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점을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찍을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때는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가벼운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디코더만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돕니다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br>
              <a:rPr lang="en-US"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</a:b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라벨링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도구들이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SAM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붙여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클릭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번에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제공하는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것이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7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분리 설계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덕분입니다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46D3311-0F47-8837-35FC-D034250F340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Picture 4" descr="d4_12_6.png">
            <a:extLst>
              <a:ext uri="{FF2B5EF4-FFF2-40B4-BE49-F238E27FC236}">
                <a16:creationId xmlns:a16="http://schemas.microsoft.com/office/drawing/2014/main" id="{0C55ED61-1E89-DFE4-82ED-B72BE4B9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6" t="14086" r="2927"/>
          <a:stretch>
            <a:fillRect/>
          </a:stretch>
        </p:blipFill>
        <p:spPr>
          <a:xfrm>
            <a:off x="454831" y="1896011"/>
            <a:ext cx="11273095" cy="2915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1 · SAM 2 · 우리가 쓸 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ultralytics 안에 모두 들어 있어 이름만 바꾸면 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4" cy="24018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특징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 파일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언제 쓰나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SAM 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이미지 전용. 원 논문의 모델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sam_b.pt · sam_l.pt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논문 재현이 필요할 때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MobileSAM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SAM 1 의 경량판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mobile_sam.pt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모바일 · 실시간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87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SAM 2.1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영상까지 지원. 더 빠르고 정확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sam2.1_t / s / b / l .pt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오늘 실습 — sam2.1_b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FastSAM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기반의 근사 구현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FastSAM-s.pt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속도가 최우선일 때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58640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514088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sam2.1_b.pt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씁니다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가중치가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약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155 MB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Colab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20초쯤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걸려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내려받힙니다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T4 GPU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인코딩에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1 ~ 2초,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prompt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하나당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수십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밀리초입니다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설치와 첫 마스크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YOLO 와 같은 패키지, 같은 호출 방식이다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7"/>
            <a:ext cx="11283696" cy="2828227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from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ultralytics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import SAM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SAM("sam2.1_b.pt")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없으면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자동으로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내려받는다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약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155 MB)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박스를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prompt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— [x1, y1, x2, y2]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results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("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bus.jpg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",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bboxes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=[[4, 229, 796, 728]])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results[0]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r.masks.data.shape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)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torch.Size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([1, 1080, 810])  =  (N, H, 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93" y="4835989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마스크의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H · W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크기와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같다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그래서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원본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위에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겹쳐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있다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점으로 가리키기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가장 직관적인 prompt — 물체 위에 점을 하나 찍는다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2673848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점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하나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(IMG, points=[400, 500], labels=[1])[0]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점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여러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—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각각이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서로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다른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객체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(IMG, points=[[400, 500], [700, 600]], labels=[1, 1])[0]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객체를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여러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점으로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가리키기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(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겹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더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감싼다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(IMG, points=[[[400, 500], [430, 560]]], labels=[[1, 1]])[0]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699137"/>
              </p:ext>
            </p:extLst>
          </p:nvPr>
        </p:nvGraphicFramePr>
        <p:xfrm>
          <a:off x="454831" y="4628725"/>
          <a:ext cx="11283696" cy="1292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인자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형식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points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[x, y]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또는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[[x, y], ...]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이미지 위의 픽셀 좌표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labels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또는 0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=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이것을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포함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0 =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이것은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제외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빼고 싶은 곳은 0 으로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포함할 점과 제외할 점을 함께 주면 경계가 다듬어진다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2958856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사람은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포함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(1),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사람이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들고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있는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가방은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제외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(0)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IMG,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points=[[[250, 450], [270, 700]]],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두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점이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객체에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대한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지시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labels=[[1, 0]],         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앞은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포함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뒤는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제외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결과가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마음에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들지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않으면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점을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더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찍어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가며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다듬는다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이미지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인코딩은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이미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끝났으므로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다시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찍어도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빠르다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4831" y="4967211"/>
            <a:ext cx="11283696" cy="27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라벨링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도구에서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클릭해서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지우기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보이는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동작이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negative point</a:t>
            </a:r>
            <a:r>
              <a:rPr lang="ko-KR" altLang="en-US"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이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 뜯어보기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3일차의 r.boxes 자리에 r.masks 가 들어왔다고 보면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7"/>
            <a:ext cx="11283696" cy="3006357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(IMG,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bboxes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=[[4, 229, 796, 728]])[0]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r.masks.data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(N, H, W) bool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텐서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마스크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본체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r.masks.xy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길이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N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리스트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각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원소는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윤곽선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좌표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(M, 2)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r.masks.data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[0].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cpu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numpy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첫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번째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마스크를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넘파이로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m.shape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m.dtype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m.sum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())       # (1080, 810) bool 105432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show(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r.plot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())             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색을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입혀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그려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준다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294590"/>
              </p:ext>
            </p:extLst>
          </p:nvPr>
        </p:nvGraphicFramePr>
        <p:xfrm>
          <a:off x="452693" y="5042314"/>
          <a:ext cx="11283696" cy="1292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9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속성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쓰임</a:t>
                      </a:r>
                      <a:endParaRPr sz="1600" b="1" dirty="0">
                        <a:solidFill>
                          <a:srgbClr val="FFFFFF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masks.data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면적 계산 · 마스크 연산 · 다른 이미지에 합성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masks.xy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cv2.polylines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윤곽선만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그리기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마스크로 할 수 있는 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배열이니 넘파이 연산이 전부 통한다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3410118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r.masks.data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[0].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cpu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numpy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면적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— True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인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픽셀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수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area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m.sum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ratio = area /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m.size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이미지에서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차지하는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비율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배경을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지우고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물체만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남기기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img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cv2.imread(IMG)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cut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img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* m[:, :, None]                 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마스크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밖은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검게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두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마스크의</a:t>
            </a:r>
            <a:r>
              <a:rPr sz="1600" b="0" dirty="0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8C989E"/>
                </a:solidFill>
                <a:latin typeface="Aptos Mono" panose="020B0009020202020204" pitchFamily="49" charset="0"/>
                <a:ea typeface="D2Coding"/>
                <a:cs typeface="D2Coding"/>
              </a:rPr>
              <a:t>IoU</a:t>
            </a:r>
            <a:endParaRPr sz="1600" b="0" dirty="0">
              <a:solidFill>
                <a:srgbClr val="8C989E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iou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(a &amp; b).sum() / (a | b).sum()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831" y="5349147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줄이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오전에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배운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mask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IoU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정의를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옮기면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줄이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된다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YOLO와</a:t>
            </a: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SAM</a:t>
            </a:r>
            <a:r>
              <a:rPr lang="ko-KR" altLang="en-US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 결합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147082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946" y="5444836"/>
            <a:ext cx="10625328" cy="6297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낸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SAM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bboxes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인자로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넘기면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자리의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마스크가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나옵니다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7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클래스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이름은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YOLO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쪽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결과에서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가져와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붙이면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됩니다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3" name="Picture 4" descr="d4_19_7.png">
            <a:extLst>
              <a:ext uri="{FF2B5EF4-FFF2-40B4-BE49-F238E27FC236}">
                <a16:creationId xmlns:a16="http://schemas.microsoft.com/office/drawing/2014/main" id="{009BBFCF-759F-140B-2F18-F76773C5C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48"/>
          <a:stretch>
            <a:fillRect/>
          </a:stretch>
        </p:blipFill>
        <p:spPr>
          <a:xfrm>
            <a:off x="454831" y="1893042"/>
            <a:ext cx="11283696" cy="2828227"/>
          </a:xfrm>
          <a:prstGeom prst="rect">
            <a:avLst/>
          </a:prstGeom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EB8B994-1220-BDAB-E19F-756CA1FB624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lang="en" altLang="ko-KR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</a:t>
            </a:r>
            <a:r>
              <a:rPr lang="ko-KR" altLang="en-US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와 </a:t>
            </a:r>
            <a:r>
              <a:rPr lang="en" altLang="ko-KR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</a:t>
            </a:r>
            <a:r>
              <a:rPr lang="ko-KR" altLang="en-US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 결합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3932842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from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ultralytics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import YOLO, SAM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det = YOLO("yolo11n.pt")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SAM("sam2.1_b.pt")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d = det(IMG, conf=0.25)[0]                     # ①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탐지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boxes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d.boxes.xyxy.cpu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numpy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tolist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    # ②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박스만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꺼내서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names = [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d.names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[int(c)] for c in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d.boxes.cls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sam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(IMG,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bboxes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=boxes)[0]                  # ③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그대로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prompt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로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masks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s.masks.data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        # ④ (N, H, W) —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순서가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boxes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같다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for name, m in zip(names, masks):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print(name, 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m.sum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()), "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픽셀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831" y="5872309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마스크의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순서가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입력한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박스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순서와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같다는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점이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중요하다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그래서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이름을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zip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으로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붙일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있다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0FE7DFC-DE46-3715-99C6-A33A1EB68D3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이 못 하는 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만능이 아니다 — 한계를 알아야 프로젝트 설계를 할 수 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432684"/>
              </p:ext>
            </p:extLst>
          </p:nvPr>
        </p:nvGraphicFramePr>
        <p:xfrm>
          <a:off x="457200" y="1755648"/>
          <a:ext cx="11283695" cy="24018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4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한계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무슨 일이 벌어지나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대처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클래스를 모른다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마스크만 나오고 이름이 없다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탐지기와 붙이거나 사람이 붙인다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87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'어디까지가 한 물체' 가 애매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사람을 찍으면 옷만 나올 수도 있다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점을 더 찍거나 negative point 사용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작고</a:t>
                      </a:r>
                      <a:r>
                        <a:rPr sz="1600" b="1" dirty="0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가는</a:t>
                      </a:r>
                      <a:r>
                        <a:rPr sz="1600" b="1" dirty="0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객체 분할이 어려움</a:t>
                      </a:r>
                      <a:endParaRPr sz="1600" b="1" dirty="0">
                        <a:solidFill>
                          <a:srgbClr val="15608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전선 · 머리카락 · 안테나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해상도를 올리거나 후처리로 보정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느리다</a:t>
                      </a:r>
                      <a:endParaRPr sz="1600" b="1" dirty="0">
                        <a:solidFill>
                          <a:srgbClr val="15608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이미지 인코딩이 무겁다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인코딩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재사용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또는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MobileSAM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58639"/>
            <a:ext cx="11283696" cy="1567147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514088"/>
            <a:ext cx="10625328" cy="1031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두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번째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항목이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프로젝트에서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많이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부딪히는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문제입니다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무엇이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하나의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물체인가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여러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답을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가질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7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이상하면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의심하기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prompt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바꿔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보세요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2차시 실습 — SAM 노트북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노트북 `4일차_실습_SAM_객체분할` 을 여세요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6" cy="301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TODO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· 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설치하고 박스 prompt 로 첫 마스크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 prompt 로 마스크 만들기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1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negative point 로 다듬기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2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마스크 배열 다루기 — 면적 · 오려내기 · IoU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3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+ SAM 자동 마스크 생성기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4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어제 올린 내 이미지로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72304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어제 STEP 5 에서 올린 이미지를 그대로 씁니다. 없다면 샘플 이미지로 진행해도 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49240" y="1783080"/>
            <a:ext cx="6309360" cy="347472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 dirty="0" err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차시에서</a:t>
            </a: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다루는</a:t>
            </a: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것</a:t>
            </a:r>
            <a:endParaRPr sz="1600" b="1" dirty="0">
              <a:solidFill>
                <a:srgbClr val="E9713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 dirty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학습이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끝난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어떻게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넘길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것인가</a:t>
            </a:r>
            <a:endParaRPr sz="18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 dirty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ONNX</a:t>
            </a:r>
            <a:r>
              <a:rPr lang="en-US" altLang="ko-KR"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프레임워크와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런타임을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끊어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주는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형식</a:t>
            </a:r>
            <a:endParaRPr sz="18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 dirty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변환하고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세션으로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추론해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보기</a:t>
            </a:r>
            <a:endParaRPr sz="18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 dirty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전처리·후처리를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손으로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짜</a:t>
            </a:r>
            <a:r>
              <a:rPr sz="18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본다</a:t>
            </a:r>
            <a:endParaRPr sz="18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28" y="2514600"/>
            <a:ext cx="3749039" cy="201168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3차시</a:t>
            </a:r>
          </a:p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>
                <a:solidFill>
                  <a:srgbClr val="CBE2EC"/>
                </a:solidFill>
                <a:latin typeface="Pretendard"/>
                <a:ea typeface="Pretendard"/>
                <a:cs typeface="Pretendard"/>
              </a:rPr>
              <a:t>ONNX Runtime · 이론과 실습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A8CCDC"/>
                </a:solidFill>
                <a:latin typeface="Pretendard"/>
                <a:ea typeface="Pretendard"/>
                <a:cs typeface="Pretendard"/>
              </a:rPr>
              <a:t>11:30 – 12:20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학습이 끝난 다음의 문제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모델을 만든 곳과 모델이 돌아야 할 곳은 대개 다르다</a:t>
            </a:r>
          </a:p>
        </p:txBody>
      </p:sp>
      <p:pic>
        <p:nvPicPr>
          <p:cNvPr id="5" name="Picture 4" descr="d4_2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29440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900870"/>
            <a:ext cx="11283696" cy="1428678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5056318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노트북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파일을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그냥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주면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되지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않나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안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되는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이유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.pt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열려면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버전의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PyTorch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필요하고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그러려면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파이썬과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GB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패키지가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필요합니다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현장의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기기에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그것을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통째로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설치할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경우는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많지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않습니다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ONNX — </a:t>
            </a: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모델의</a:t>
            </a: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공용</a:t>
            </a: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</a:t>
            </a: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형식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무엇으로 학습했든, 어디서 실행하든 그 사이에 놓이는 한 겹</a:t>
            </a:r>
          </a:p>
        </p:txBody>
      </p:sp>
      <p:pic>
        <p:nvPicPr>
          <p:cNvPr id="5" name="Picture 4" descr="d4_25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319861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155431"/>
          <a:ext cx="11283696" cy="1292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무엇인가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ONNX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연산 그래프와 가중치를 담는 파일 형식. 열어 보면 '무슨 연산을 어떤 순서로' 가 들어 있다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ONNX Runtime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 파일을 읽어 실행하는 엔진. C++ · C# · 자바 · 파이썬 · 웹브라우저에서 돈다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lang="en" altLang="ko-KR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ONNX </a:t>
            </a:r>
            <a:r>
              <a:rPr lang="ko-KR" altLang="en-US"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 변환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여기서는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ultralytics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패키지의 함수를 사용했지만 다른 방법으로도 </a:t>
            </a:r>
            <a:r>
              <a:rPr lang="en-US" altLang="ko-KR" sz="1700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ONNX </a:t>
            </a:r>
            <a:r>
              <a:rPr lang="ko-KR" altLang="en-US" sz="1700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변환 가능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1973204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from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ultralytics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import YOLO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model = YOLO("yolo11n.pt")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path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model.export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(format="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onnx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",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imgsz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=640, simplify=True,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opset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=13)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print(path)      # yolo11n.onnx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32623"/>
              </p:ext>
            </p:extLst>
          </p:nvPr>
        </p:nvGraphicFramePr>
        <p:xfrm>
          <a:off x="452694" y="4060411"/>
          <a:ext cx="11283695" cy="215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인자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imgsz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해상도를 고정한다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640 — 학습 때와 맞춘다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simplify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불필요한 연산을 정리해 그래프를 줄인다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True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opset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ONNX 연산자 규격 버전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 — 대부분의 런타임이 지원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dynamic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크기를 가변으로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오늘은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쓰지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않는다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파일 안에 무엇이 들어 있나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입력과 출력의 이름·모양을 먼저 확인하는 것이 순서다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11283696" cy="3172612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import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onnxruntime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as ort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session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ort.InferenceSession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("yolo11n.onnx",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            providers=["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CPUExecutionProvider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"])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session.get_inputs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session.get_outputs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()[0]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i.name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i.shape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i.type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)     # images  [1, 3, 640, 640]  tensor(float)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o.name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o.shape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o.type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)     # output0 [1, 84, 8400]     tensor(float)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93" y="5257617"/>
            <a:ext cx="11283696" cy="274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`providers`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장치를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고른다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GPU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쓰려면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onnxruntime-gpu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설치하고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CUDAExecutionProvider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넣는다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(1, 84, 8400) 을 읽는 법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여기서 어제 배운 conf 와 NMS 가 다시 등장한다</a:t>
            </a:r>
          </a:p>
        </p:txBody>
      </p:sp>
      <p:pic>
        <p:nvPicPr>
          <p:cNvPr id="5" name="Picture 4" descr="d4_28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3281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693" y="5376933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ultralytics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쓸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때는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단계가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자동으로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돌아갔다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그래서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8400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이라는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숫자를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일이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없었다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추론 파이프라인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가운데 한 칸만 런타임이 해 주고, 앞뒤는 우리 몫이다</a:t>
            </a:r>
          </a:p>
        </p:txBody>
      </p:sp>
      <p:pic>
        <p:nvPicPr>
          <p:cNvPr id="5" name="Picture 4" descr="d4_29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23574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314272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946" y="4612026"/>
            <a:ext cx="10625328" cy="6297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자체는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완성되어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7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배포에서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실제로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손이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대부분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전처리와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후처리를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옮기는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작업이고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여기서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버그가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많이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납니다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전처리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모델이 기대하는 모양으로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55647"/>
            <a:ext cx="11283696" cy="2756975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img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cv2.imread(IMG)                        # (H, W, 3)  BGR  0~255  uint8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 = cv2.resize(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img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(640, 640))              # ①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크기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모델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입력에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맞춘다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 = x[:, :, ::-1]                            # ②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채널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BGR -&gt; RGB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x.transpose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(2, 0, 1)                     # ③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축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HWC -&gt; CHW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 = x[None].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astype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("float32") / 255.0        # ④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배치·자료형·범위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print(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x.shape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x.dtype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)                      # (1, 3, 640, 640) float32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93" y="4759947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가지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하나만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틀려도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오류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이상한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나온다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배포에서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흔한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사고다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실행과 후처리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NMS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는 모델과 무관한 파트로 </a:t>
            </a:r>
            <a:r>
              <a:rPr lang="en-US" altLang="ko-KR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NMS 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후처리</a:t>
            </a:r>
            <a:r>
              <a:rPr lang="en-US" altLang="ko-KR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과정이 추가로 필요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55647"/>
            <a:ext cx="11283696" cy="3623875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0000" tIns="150000" rIns="180000" bIns="150000" rtlCol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y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session.run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(None, {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i.name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: x})[0][0]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(84, 8400)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y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y.T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                   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(8400, 84) —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후보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하나가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줄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boxes  = y[:, :4]                     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cx, cy, w, 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scores = y[:, 4:]                     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클래스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80개의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점수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cls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scores.argmax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(1)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conf   =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scores.max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(1)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keep = conf &gt; 0.25                            </a:t>
            </a:r>
            <a:r>
              <a:rPr lang="ko-KR" altLang="en-US"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           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# ③ conf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로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거르기</a:t>
            </a: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boxes, conf,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cls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boxes[keep], conf[keep],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cls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[keep]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dirty="0">
              <a:solidFill>
                <a:srgbClr val="222222"/>
              </a:solidFill>
              <a:latin typeface="Aptos Mono" panose="020B0009020202020204" pitchFamily="49" charset="0"/>
              <a:ea typeface="D2Coding"/>
              <a:cs typeface="D2Coding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idx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 = cv2.dnn.NMSBoxes(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rects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conf.tolist</a:t>
            </a:r>
            <a:r>
              <a:rPr sz="1600" b="0" dirty="0">
                <a:solidFill>
                  <a:srgbClr val="222222"/>
                </a:solidFill>
                <a:latin typeface="Aptos Mono" panose="020B0009020202020204" pitchFamily="49" charset="0"/>
                <a:ea typeface="D2Coding"/>
                <a:cs typeface="D2Coding"/>
              </a:rPr>
              <a:t>(), 0.25, 0.7)   # ④ NMS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555" y="5518818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cv2.dnn.NMSBoxes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(x, y, w, h)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형식을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받는다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cxcywh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에서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좌상단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번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바꿔야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한다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결과가 조금 다르게 나온다면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실습에서 반드시 마주치게 되는 지점이다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6" cy="1971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0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우리가 짠 전처리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ultralytics 의 전처리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87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크기 맞추기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cv2.resize — 가로세로 비율이 찌그러진다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letterbox — 비율을 지키고 남는 곳에 회색을 채운다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좌표 되돌리기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단순히 배율을 곱한다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채운 여백만큼 빼고 배율을 곱한다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박스가 조금씩 어긋나고 점수도 달라진다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원래 값과 일치한다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2693" y="4117860"/>
            <a:ext cx="11283696" cy="1570629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77" y="4387263"/>
            <a:ext cx="10625328" cy="1031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배포에서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성능이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떨어지는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가장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흔한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원인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그대로인데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전처리가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학습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때와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달라진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것입니다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7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변환한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검증할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때는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반드시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원본과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이미지로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출력을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대조해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보세요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무엇을 얻는가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숫자는 환경에 따라 다르니 실습에서 직접 재 봅니다</a:t>
            </a:r>
          </a:p>
        </p:txBody>
      </p:sp>
      <p:pic>
        <p:nvPicPr>
          <p:cNvPr id="5" name="Picture 4" descr="d4_33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35658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79033"/>
            <a:ext cx="11283696" cy="274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수치는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CPU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코어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기준의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참고치다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 GPU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에서는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격차가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훨씬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줄고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배치가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커질수록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PyTorch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유리해지기도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한다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3차시 실습 — ONNX 노트북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노트북 `4일차_실습_ONNX_Runtime` 을 여세요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6" cy="301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STEP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TODO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0 · 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설치하고 yolo11n 을 onnx 로 내보내기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세션을 열고 입력·출력 모양 확인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전처리를 직접 짜기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텐서에서 박스·클래스·점수 꺼내기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2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conf 로 거르고 NMS 적용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3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속도 비교 · ultralytics 결과와 대조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 TODO 4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72304"/>
            <a:ext cx="11283696" cy="3393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▸  </a:t>
            </a:r>
            <a:r>
              <a:rPr sz="16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SAM 노트북과 별개 파일입니다. 3차시 시작할 때 새 노트북을 여세요.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49240" y="1783080"/>
            <a:ext cx="6309360" cy="347472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6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이 차시에서 다루는 것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최종 프로젝트의 목표와 일정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세 가지 주제와 추천 데이터셋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제출물과 평가 기준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sz="1800" b="0">
                <a:solidFill>
                  <a:srgbClr val="8C989E"/>
                </a:solidFill>
                <a:latin typeface="Pretendard"/>
                <a:ea typeface="Pretendard"/>
                <a:cs typeface="Pretendard"/>
              </a:rPr>
              <a:t>—   </a:t>
            </a:r>
            <a:r>
              <a:rPr sz="18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오늘 남은 시간에 baseline 을 돌려 둔다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28" y="2514600"/>
            <a:ext cx="3749039" cy="2011680"/>
          </a:xfrm>
        </p:spPr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4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4차시</a:t>
            </a:r>
          </a:p>
          <a:p>
            <a:pPr marL="0" indent="0"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>
                <a:solidFill>
                  <a:srgbClr val="CBE2EC"/>
                </a:solidFill>
                <a:latin typeface="Pretendard"/>
                <a:ea typeface="Pretendard"/>
                <a:cs typeface="Pretendard"/>
              </a:rPr>
              <a:t>[프로젝트] 최종 프로젝트 주제 안내</a:t>
            </a:r>
          </a:p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A8CCDC"/>
                </a:solidFill>
                <a:latin typeface="Pretendard"/>
                <a:ea typeface="Pretendard"/>
                <a:cs typeface="Pretendard"/>
              </a:rPr>
              <a:t>12:30 – 13:20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최종 프로젝트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5일 동안 배운 것을 하나의 결과물로 묶는다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532120" cy="2209292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t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목표</a:t>
            </a:r>
            <a:endParaRPr sz="18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데이터셋으로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탐지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파이프라인을</a:t>
            </a:r>
            <a:r>
              <a:rPr lang="ko-KR" altLang="en-US" sz="160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돌리고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결과를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분석해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발표한다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08776" y="1755648"/>
            <a:ext cx="5532120" cy="2209292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t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구성</a:t>
            </a:r>
            <a:endParaRPr sz="18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2 ~ 3인 1팀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팀별로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주제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하나를</a:t>
            </a:r>
            <a:r>
              <a:rPr lang="ko-KR" altLang="en-US" sz="160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골라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진행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166108"/>
            <a:ext cx="5532120" cy="2209292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t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일정</a:t>
            </a:r>
            <a:endParaRPr sz="18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4차시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주제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선택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내일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1~3차시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수행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내일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4차시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발표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팀당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7분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166108"/>
            <a:ext cx="5532120" cy="2209292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t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두</a:t>
            </a:r>
            <a:r>
              <a:rPr sz="18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갈래</a:t>
            </a:r>
            <a:endParaRPr sz="18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기본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트랙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사전학습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모델로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추론하고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분석한다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심화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트랙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필요하면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600" b="0" dirty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 fine-tuning </a:t>
            </a:r>
            <a:r>
              <a:rPr sz="1600" b="0" dirty="0" err="1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까지</a:t>
            </a:r>
            <a:endParaRPr sz="1600" b="0" dirty="0">
              <a:solidFill>
                <a:srgbClr val="5F6B71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전체 흐름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 두 칸까지 끝내 놓으면 내일이 훨씬 수월합니다</a:t>
            </a:r>
          </a:p>
        </p:txBody>
      </p:sp>
      <p:pic>
        <p:nvPicPr>
          <p:cNvPr id="5" name="Picture 4" descr="d4_37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" y="1755648"/>
            <a:ext cx="11283696" cy="22633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220195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375643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 반드시 해 둘 것 — 주제 선택과 데이터 내려받기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데이터셋 다운로드는 네트워크 상황에 따라 시간이 걸립니다. 오늘 안에 압축을 풀어 이미지 몇 장을 화면에 띄우는 것까지 확인하고 마치세요.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주제 1 — Detector + SAM 자동 마스크 생성기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 2차시에 만든 파이프라인을 제대로 키우는 주제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29653"/>
              </p:ext>
            </p:extLst>
          </p:nvPr>
        </p:nvGraphicFramePr>
        <p:xfrm>
          <a:off x="457200" y="1755648"/>
          <a:ext cx="11283696" cy="301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7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YOLO11 로 탐지한 박스를 SAM 의 prompt 로 넘겨, 클래스 이름이 붙은 마스크를 자동 생성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COCO val2017 일부 또는 Pascal VOC 일부 — 정답 마스크가 있어 정량 비교가 가능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 분석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생성한 마스크와 정답 마스크의 IoU 분포. 클래스별로 나눠 보면 차이가 크게 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정성 분석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conf threshold 를 바꾸면 마스크 개수가 어떻게 변하는가. 겹친 객체는 어떻게 되는가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심화</a:t>
                      </a:r>
                      <a:endParaRPr sz="1600" b="1" dirty="0">
                        <a:solidFill>
                          <a:srgbClr val="15608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추려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yolo11n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fine-tuning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난이도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★★☆  — 2차시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코드가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출발점이라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가장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쉬움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주제 2 — 반려동물 · 보행자 분할 분석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정답 마스크가 잘 갖춰진 데이터로 정량 평가를 제대로 해 보는 주제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79082"/>
              </p:ext>
            </p:extLst>
          </p:nvPr>
        </p:nvGraphicFramePr>
        <p:xfrm>
          <a:off x="457200" y="1755648"/>
          <a:ext cx="11283696" cy="301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7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특정 객체군을 SAM 으로 분할하고 ground-truth 마스크와 비교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Oxford-IIIT Pet (trimap 정답 제공) 또는 Penn-Fudan Pedestrian (사람 마스크 제공)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 분석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prompt 방식별 IoU 비교 — 점 1개 · 점 여러 개 · 박스 · negative point 추가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정성 분석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IoU 가 낮게 나온 이미지를 모아 공통점을 찾는다 (털 · 그림자 · 가림 · 작은 크기)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심화</a:t>
                      </a:r>
                      <a:endParaRPr sz="1600" b="1" dirty="0">
                        <a:solidFill>
                          <a:srgbClr val="15608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Penn-Fudan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YOLO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라벨로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난이도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★★☆  —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가볍고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정답이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명확해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깔끔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주제 3 — 주행 장면 인식 및 분할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가장 현실적이고, 가장 실패 사례가 많이 나오는 주제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04331"/>
              </p:ext>
            </p:extLst>
          </p:nvPr>
        </p:nvGraphicFramePr>
        <p:xfrm>
          <a:off x="457200" y="1755648"/>
          <a:ext cx="11283696" cy="301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7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endParaRPr/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도로 장면에서 차량 · 보행자 · 신호등을 탐지하고 분할, 실패 사례를 체계적으로 정리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COCO 에서 traffic 관련 클래스만 추린 subset, 또는 BDD100K · Cityscapes 의 일부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 분석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클래스별 탐지 개수와 confidence 분포. 거리(박스 크기)에 따른 탐지율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정성 분석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야간 · 역광 · 비 · 가림 상황에서 무엇이 먼저 무너지는가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 dirty="0" err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심화</a:t>
                      </a:r>
                      <a:endParaRPr sz="1600" b="1" dirty="0">
                        <a:solidFill>
                          <a:srgbClr val="15608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traffic light 만 따로 라벨링해 학습 — 작은 물체 탐지가 실제로 좋아지는가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난이도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★★★  —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정답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라벨을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제작에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시간이 필요하지만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소재가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가장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풍부</a:t>
                      </a:r>
                      <a:endParaRPr sz="1600" b="0" dirty="0">
                        <a:solidFill>
                          <a:srgbClr val="222222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972304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5139627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정답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라벨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없이도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좋은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분석이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주제입니다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물체의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탐지율이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급격히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떨어지는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지점이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크기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몇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픽셀인가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질문은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정답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예측만으로도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답할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있습니다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어떤 주제를 고를까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팀의 상황에 맞춰 고르면 된다 — 어느 것이든 평가 기준은 같다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4" cy="215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이런 팀이라면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추천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이유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코드에서 시간을 덜 쓰고 싶다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주제 1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2차시 노트북이 그대로 출발점이 된다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실험을 깔끔하게 설계하고 싶다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주제 2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데이터가 가볍고 정답이 명확하다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분석거리가 많은 쪽이 좋다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주제 3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 사례가 풍부하고 이야기가 나온다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아직 못 정하겠다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주제 2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가장 무난하다. 오늘 안에 결과가 나온다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0736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4266184"/>
            <a:ext cx="10625328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주제별 baseline 노트북을 배포합니다</a:t>
            </a: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세 주제 모두 데이터 다운로드부터 첫 결과 시각화까지 돌아가는 상태로 제공됩니다. 여기서부터 바꿔 가며 실험하면 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심화</a:t>
            </a:r>
            <a:r>
              <a:rPr sz="3000" b="1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트랙</a:t>
            </a:r>
            <a:endParaRPr sz="3000" b="1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 wrap="square"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기본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트랙이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끝난</a:t>
            </a:r>
            <a:r>
              <a:rPr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팀</a:t>
            </a:r>
            <a:r>
              <a:rPr lang="ko-KR" altLang="en-US" sz="17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은 시도해보세요</a:t>
            </a:r>
            <a:endParaRPr sz="17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55648"/>
          <a:ext cx="11283694" cy="2584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하는 일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걸리는 시간</a:t>
                      </a:r>
                    </a:p>
                  </a:txBody>
                  <a:tcPr marL="100584" marR="100584"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 트랙(추론 분석)을 먼저 끝낸다 — 건너뛰면 감점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정답을 YOLO 라벨 형식(cxcywh 정규화)으로 변환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15분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train / val 로 나누고 data.yaml 작성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5분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yolo11n 을 30 epoch fine-tuning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 ~ 15분 (T4)</a:t>
                      </a:r>
                    </a:p>
                  </a:txBody>
                  <a:tcPr marL="100584" marR="100584" anchor="ctr"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84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1">
                          <a:solidFill>
                            <a:srgbClr val="1560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사전학습 모델과 같은 잣대로 비교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15분</a:t>
                      </a:r>
                    </a:p>
                  </a:txBody>
                  <a:tcPr marL="100584" marR="10058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41519"/>
            <a:ext cx="11283696" cy="1225296"/>
          </a:xfrm>
          <a:prstGeom prst="roundRect">
            <a:avLst>
              <a:gd name="adj" fmla="val 4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2946" y="4803077"/>
            <a:ext cx="10625328" cy="702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심화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트랙의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핵심은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성능이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 '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비교</a:t>
            </a:r>
            <a:r>
              <a:rPr sz="1800" b="1" dirty="0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' </a:t>
            </a:r>
            <a:r>
              <a:rPr sz="1800" b="1" dirty="0" err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입니다</a:t>
            </a:r>
            <a:endParaRPr sz="1800" b="1" dirty="0">
              <a:solidFill>
                <a:srgbClr val="156082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val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셋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지표로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사전학습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fine-tuned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모델을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나란히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재야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의미가</a:t>
            </a:r>
            <a:r>
              <a:rPr sz="1700" b="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생깁니다</a:t>
            </a:r>
            <a:endParaRPr sz="1700" b="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오늘 정리 · 내일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98448"/>
            <a:ext cx="5394960" cy="31313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9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오늘 한 일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박스에서 픽셀 단위 마스크로 넘어왔다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semantic 과 instance 분할의 차이를 봤다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mask IoU 로 분할을 평가하는 법을 익혔다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SAM 을 점 · 박스 · negative point 로 다뤘다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YOLO 탐지 결과를 SAM 에 연결했다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ONNX 로 내보내고 직접 전·후처리를 짰다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156082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최종 프로젝트 주제를 정했다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79" y="1298448"/>
            <a:ext cx="5385816" cy="2739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9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내일 (8/7) 할 일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1차시 — baseline 실행과 모델 추론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2차시 — 결과 시각화, 정량·정성 분석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3차시 — 실패 사례 정리, 발표 준비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4차시 — 팀별 발표 (7분) 와 질의응답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발표는 노트북을 띄워 놓고 해도 됩니다</a:t>
            </a:r>
          </a:p>
          <a:p>
            <a:pPr marL="0" indent="0"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>
                <a:solidFill>
                  <a:srgbClr val="E9713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700" b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결과 이미지와 분석 표만 준비하세요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4831" y="5104130"/>
            <a:ext cx="11283696" cy="910843"/>
          </a:xfrm>
          <a:prstGeom prst="roundRect">
            <a:avLst>
              <a:gd name="adj" fmla="val 45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2946" y="5413389"/>
            <a:ext cx="10625328" cy="292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구성은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안에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확정해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주세요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내일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1차시는 baseline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이미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돌아가는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상태에서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시작합니다</a:t>
            </a:r>
            <a:r>
              <a:rPr sz="17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36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수고하셨습니다</a:t>
            </a:r>
          </a:p>
          <a:p>
            <a:pPr marL="0" indent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5F6B71"/>
                </a:solidFill>
                <a:latin typeface="Pretendard"/>
                <a:ea typeface="Pretendard"/>
                <a:cs typeface="Pretendard"/>
              </a:rPr>
              <a:t>내일은 하루 종일 프로젝트입니다 — baseline 을 돌려 놓고 오세요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dirty="0" smtClean="0">
            <a:solidFill>
              <a:schemeClr val="tx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buNone/>
          <a:defRPr kumimoji="1" sz="2300" dirty="0" smtClean="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1676</TotalTime>
  <Words>3487</Words>
  <Application>Microsoft Macintosh PowerPoint</Application>
  <PresentationFormat>와이드스크린</PresentationFormat>
  <Paragraphs>531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맑은 고딕</vt:lpstr>
      <vt:lpstr>시스템 서체 일반체</vt:lpstr>
      <vt:lpstr>Pretendard</vt:lpstr>
      <vt:lpstr>Aptos Mono</vt:lpstr>
      <vt:lpstr>Arial</vt:lpstr>
      <vt:lpstr>디자인 사용자 지정</vt:lpstr>
      <vt:lpstr>컴퓨터 비전 부트캠프</vt:lpstr>
      <vt:lpstr>PowerPoint 프레젠테이션</vt:lpstr>
      <vt:lpstr>부트캠프 로드맵</vt:lpstr>
      <vt:lpstr>PowerPoint 프레젠테이션</vt:lpstr>
      <vt:lpstr>박스로는 부족한 순간</vt:lpstr>
      <vt:lpstr>분할에도 종류가 있다</vt:lpstr>
      <vt:lpstr>마스크는 결국 배열이다</vt:lpstr>
      <vt:lpstr>분할을 평가하는 법</vt:lpstr>
      <vt:lpstr>분할 모델의 두 갈래</vt:lpstr>
      <vt:lpstr>PowerPoint 프레젠테이션</vt:lpstr>
      <vt:lpstr>SAM — Segment Anything Model</vt:lpstr>
      <vt:lpstr>SAM 의 구조</vt:lpstr>
      <vt:lpstr>SAM 1 · SAM 2 · 우리가 쓸 것</vt:lpstr>
      <vt:lpstr>설치와 첫 마스크</vt:lpstr>
      <vt:lpstr>점으로 가리키기</vt:lpstr>
      <vt:lpstr>빼고 싶은 곳은 0 으로</vt:lpstr>
      <vt:lpstr>결과 뜯어보기</vt:lpstr>
      <vt:lpstr>마스크로 할 수 있는 일</vt:lpstr>
      <vt:lpstr>YOLO와 SAM의 결합</vt:lpstr>
      <vt:lpstr>YOLO와 SAM의 결합</vt:lpstr>
      <vt:lpstr>SAM 이 못 하는 것</vt:lpstr>
      <vt:lpstr>2차시 실습 — SAM 노트북</vt:lpstr>
      <vt:lpstr>PowerPoint 프레젠테이션</vt:lpstr>
      <vt:lpstr>학습이 끝난 다음의 문제</vt:lpstr>
      <vt:lpstr>ONNX — 모델의 공용 파일 형식</vt:lpstr>
      <vt:lpstr>ONNX 파일 변환</vt:lpstr>
      <vt:lpstr>파일 안에 무엇이 들어 있나</vt:lpstr>
      <vt:lpstr>(1, 84, 8400) 을 읽는 법</vt:lpstr>
      <vt:lpstr>추론 파이프라인</vt:lpstr>
      <vt:lpstr>전처리</vt:lpstr>
      <vt:lpstr>실행과 후처리</vt:lpstr>
      <vt:lpstr>결과가 조금 다르게 나온다면</vt:lpstr>
      <vt:lpstr>무엇을 얻는가</vt:lpstr>
      <vt:lpstr>3차시 실습 — ONNX 노트북</vt:lpstr>
      <vt:lpstr>PowerPoint 프레젠테이션</vt:lpstr>
      <vt:lpstr>최종 프로젝트</vt:lpstr>
      <vt:lpstr>전체 흐름</vt:lpstr>
      <vt:lpstr>주제 1 — Detector + SAM 자동 마스크 생성기</vt:lpstr>
      <vt:lpstr>주제 2 — 반려동물 · 보행자 분할 분석</vt:lpstr>
      <vt:lpstr>주제 3 — 주행 장면 인식 및 분할</vt:lpstr>
      <vt:lpstr>어떤 주제를 고를까</vt:lpstr>
      <vt:lpstr>심화 트랙</vt:lpstr>
      <vt:lpstr>오늘 정리 · 내일 예고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김한울</cp:lastModifiedBy>
  <cp:revision>195</cp:revision>
  <dcterms:created xsi:type="dcterms:W3CDTF">2013-01-27T09:14:16Z</dcterms:created>
  <dcterms:modified xsi:type="dcterms:W3CDTF">2026-07-29T10:33:47Z</dcterms:modified>
  <cp:category/>
</cp:coreProperties>
</file>